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A2A2A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2A2A2A"/>
                </a:solidFill>
                <a:latin typeface="Malgun Gothic"/>
              </a:rPr>
              <a:t>1·2차 종합 잠정 점수 (100점)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1·2차 종합 잠정 점수</c:v>
                </c:pt>
              </c:strCache>
            </c:strRef>
          </c:tx>
          <c:spPr>
            <a:solidFill>
              <a:srgbClr val="2F6F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A2A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VARCO 3D</c:v>
                  </c:pt>
                  <c:pt idx="1">
                    <c:v>Meshy</c:v>
                  </c:pt>
                  <c:pt idx="2">
                    <c:v>Tripo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76</c:v>
                </c:pt>
                <c:pt idx="2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A2A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2A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2026_MBC\UE5_GothicChapel\SourceAssets\Blockout\Blockout_Exteri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0" y="0"/>
            <a:ext cx="53035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40480" y="0"/>
            <a:ext cx="5303520" cy="5143500"/>
          </a:xfrm>
          <a:prstGeom prst="rect">
            <a:avLst/>
          </a:prstGeom>
          <a:solidFill>
            <a:srgbClr val="24262A">
              <a:alpha val="3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UE 5.6  ·  ENVIRONMENT ART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Ruined Gothic</a:t>
            </a:r>
            <a:endParaRPr lang="en-US" sz="4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Chapel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서쪽부터 무너져 내린 13–14세기 영국계 고딕 석조 예배당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389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6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Environment Artist Portfolio  |  이지원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Unreal을 처음부터 학습하며, 3인칭 플레이 기준으로 검증하는 환경 아트 포트폴리오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5361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6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× 12m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762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규모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4173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60320" y="15361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6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Bay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1762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측랑 없는 단일 본당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15361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6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6m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1762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Bay 규격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4173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66560" y="153619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6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UE 5.6.1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1762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Lumen · Nanite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880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28803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외딴 언덕 위, 전쟁 또는 재난으로 서쪽부터 무너진 뒤 오랜 세월 방치된 소규모 석조 예배당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337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3375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 장면에 그치지 않고 3인칭 캐릭터로 스케일·이동 동선·시선 유도를 확인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7947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증명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7947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Asset · 모듈러 키트 · PBR · 파손/방치 흔적 · Bay 생성 시스템 · Lumen · 최적화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51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2519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이미지 3–5장 · 생성 시스템 작동 영상 · 모델링/재질/기술 Breakdown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의도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증명하고 싶은가 — 세 가지 기준으로 모든 판단을 내린다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2F6F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건물이 주인공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6060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소품을 늘려 이야기하지 않는다. 남은 건축 구조·재질의 노후화·붕괴 양상 자체가 공간의 서사를 전달하도록 설계한다.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3977640"/>
            <a:ext cx="2148840" cy="0"/>
          </a:xfrm>
          <a:prstGeom prst="line">
            <a:avLst/>
          </a:prstGeom>
          <a:noFill/>
          <a:ln w="9525">
            <a:solidFill>
              <a:srgbClr val="D6D0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041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소품은 제단·건축 실루엣보다 먼저 읽히지 않게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645920"/>
            <a:ext cx="365760" cy="365760"/>
          </a:xfrm>
          <a:prstGeom prst="ellipse">
            <a:avLst/>
          </a:prstGeom>
          <a:solidFill>
            <a:srgbClr val="2F6F7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747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 가능한 공간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6060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렌더 한 장을 위한 세트가 아니라, 3인칭 캐릭터로 걸었을 때 스케일·동선·시선 유도가 성립하는 게임 배경을 만든다.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74720" y="3977640"/>
            <a:ext cx="2148840" cy="0"/>
          </a:xfrm>
          <a:prstGeom prst="line">
            <a:avLst/>
          </a:prstGeom>
          <a:noFill/>
          <a:ln w="9525">
            <a:solidFill>
              <a:srgbClr val="D6D0C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4041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180cm 캐릭터 · 0.5m Grid · 입구→제단 동선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645920"/>
            <a:ext cx="365760" cy="365760"/>
          </a:xfrm>
          <a:prstGeom prst="ellipse">
            <a:avLst/>
          </a:prstGeom>
          <a:solidFill>
            <a:srgbClr val="2F6F7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학습과 제작 병행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6060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Unreal을 처음부터 학습하며 필요한 STEP을 바로 적용한다. 이전 Unity 건물 생성 시스템의 설계 원리를 Unreal 방식으로 재설계한다.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3977640"/>
            <a:ext cx="2148840" cy="0"/>
          </a:xfrm>
          <a:prstGeom prst="line">
            <a:avLst/>
          </a:prstGeom>
          <a:noFill/>
          <a:ln w="9525">
            <a:solidFill>
              <a:srgbClr val="D6D0C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4041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모듈러 · Hero · PBR · 생성 시스템 · Lumen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콘셉트 &amp; 게임 레퍼런스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형태는 직접 차용하지 않고, 레퍼런스마다 적용할 기준을 하나씩 정함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2426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ONE-LINE CONCEPT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오랜 세월 풍화되고 서쪽부터 무너진 13–14세기 영국계 고딕 석조 예배당.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구조와 재질의 시간감이 동쪽 제단으로 시선을 이끈다.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371600"/>
          <a:ext cx="52120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520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씬 적용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7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Demon’s Souls Remake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성탁 형태 메인 — 두꺼운 석조 매스·단차·블라인드 아케이드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Elden Ring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동쪽 제단 Bay 배치 — Hero 창 중심축과 좌우 통로 여백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Dark Souls III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붕괴 이후 제단 주변 연출 — 촛대·천은 최소 수량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Dragon Age: Inquisition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성소로 읽히는 소품 위계 — 배너·조각상은 1개 이하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Baldur’s Gate 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서쪽 붕괴와 방치 재질 — 식생은 균열·누수선 주변만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Lies of 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PBR·라이팅 보조 — 젖은 석재와 Roughness 대비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구성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붕괴는 서쪽에서 동쪽으로 — 방향성과 구조적 원인을 가진 파손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691640"/>
          </a:xfrm>
          <a:prstGeom prst="rect">
            <a:avLst/>
          </a:prstGeom>
          <a:solidFill>
            <a:srgbClr val="8C5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WEST · 제1 Bay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심한 붕괴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출입구와 지붕을 중심으로 무너진 영역. 지붕·볼트 소실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2606040" cy="1691640"/>
          </a:xfrm>
          <a:prstGeom prst="rect">
            <a:avLst/>
          </a:prstGeom>
          <a:solidFill>
            <a:srgbClr val="B89B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CENTER · 제2 Bay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파손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보존 영역과 붕괴 영역을 연결하는 전이 구간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06040" cy="169164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EAST · 제3 Bay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보존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제단을 포함한 대부분 보존 영역, 시각적 도착점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183880" cy="0"/>
          </a:xfrm>
          <a:prstGeom prst="line">
            <a:avLst/>
          </a:prstGeom>
          <a:noFill/>
          <a:ln w="15875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서쪽 출입구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429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동쪽 제단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2426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구조 규칙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벽부 기둥 = 리브 볼트 시작점 = 외부 버트레스  (X = 0 · 400 · 800 · 1200cm)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규격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모듈이 공유하는 치수 — 0.5m Grid, 180cm 캐릭터 기준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높이 기준 (바닥 기준, cm)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548640" cy="2331720"/>
          </a:xfrm>
          <a:prstGeom prst="rect">
            <a:avLst/>
          </a:prstGeom>
          <a:solidFill>
            <a:srgbClr val="3336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416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지붕 마루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83080" y="2414016"/>
            <a:ext cx="548640" cy="1975104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00200" y="21396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4416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볼트 정점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2880360"/>
            <a:ext cx="548640" cy="1508760"/>
          </a:xfrm>
          <a:prstGeom prst="rect">
            <a:avLst/>
          </a:prstGeom>
          <a:solidFill>
            <a:srgbClr val="B89B6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514600" y="2606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4416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측벽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11880" y="3895344"/>
            <a:ext cx="548640" cy="493776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29000" y="3621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4416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4389120"/>
            <a:ext cx="3657600" cy="0"/>
          </a:xfrm>
          <a:prstGeom prst="line">
            <a:avLst/>
          </a:prstGeom>
          <a:noFill/>
          <a:ln w="12700">
            <a:solidFill>
              <a:srgbClr val="6B6862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840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벽 두께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6F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60cm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리브 시작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6F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420cm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측창 (랜싯)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6F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 × 280cm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서쪽 출입구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6F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 × 320cm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동쪽 Hero 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6F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240 × 400cm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제단 상판 폭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6F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305cm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외곽 크기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6F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720 × 1,320cm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4846320" y="4617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창대 높이·제단 깊이 등 노션에 수치가 없는 값은 블록아웃 제안값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범위 — Asset List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정상형 모듈과 교체형 파손 모듈이 같은 구조 규격을 공유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18488"/>
            <a:ext cx="292608" cy="292608"/>
          </a:xfrm>
          <a:prstGeom prst="ellipse">
            <a:avLst/>
          </a:prstGeom>
          <a:solidFill>
            <a:srgbClr val="2F6F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18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600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구조 모듈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3911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평벽, 랜싯 창벽, 서/동 박공벽, 바닥 Bay, 벽부 기둥, 버트레스, 4분할 리브 볼트, 목조 트러스, 슬레이트 지붕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618488"/>
            <a:ext cx="292608" cy="292608"/>
          </a:xfrm>
          <a:prstGeom prst="ellipse">
            <a:avLst/>
          </a:prstGeom>
          <a:solidFill>
            <a:srgbClr val="2F6F7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618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13048" y="1600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변형·파손 모듈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03911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벽/창, 파손 벽, 파손 아치·기둥, 붕괴 볼트, 파손 트러스 — 정상형 규격 유지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18488"/>
            <a:ext cx="292608" cy="292608"/>
          </a:xfrm>
          <a:prstGeom prst="ellipse">
            <a:avLst/>
          </a:prstGeom>
          <a:solidFill>
            <a:srgbClr val="2F6F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1618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601968" y="1600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잔해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03911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석재·슬레이트·목재 파편 3–5종 — 서쪽 붕괴의 원인과 결과 연결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24262A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310128"/>
            <a:ext cx="292608" cy="292608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Asset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3075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동쪽 제단, 3연 트레이서리 스테인드글라스, 서쪽 붕괴 출입구·소형 종탑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1089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3310128"/>
            <a:ext cx="292608" cy="292608"/>
          </a:xfrm>
          <a:prstGeom prst="ellipse">
            <a:avLst/>
          </a:prstGeom>
          <a:solidFill>
            <a:srgbClr val="2F6F7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2900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813048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73075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 A/B, 촛대, 헤진 제단 천 — 원래 예배 공간이었음을 최소 수량으로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1089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310128"/>
            <a:ext cx="292608" cy="292608"/>
          </a:xfrm>
          <a:prstGeom prst="ellipse">
            <a:avLst/>
          </a:prstGeom>
          <a:solidFill>
            <a:srgbClr val="2F6F7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1792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601968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재질·효과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73075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석회암·슬레이트·목재·유리 PBR / 균열·누수·이끼 데칼 / 먼지·물방울 VFX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관리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대성당이 아닌 소규모 예배당 — 만들지 않을 것을 먼저 정한다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2F6F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Must Have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본당 3 Bay 구조 + 교체형 파손 모듈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동쪽 제단 · Hero 창 · 서쪽 붕괴 출입구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잔해, 최소 수량의 예배 소품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PBR 재질, 데칼, VFX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E4DE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5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제작하지 않음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1031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측랑, 신랑 아케이드, 독립 기둥, 트랜셉트, 앱스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플라잉 버트레스, 팬 볼트, 반복 피너클, 성곽식 흉벽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대성당 규모의 장식, 다수의 부속 공간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공포·의식물 과밀, 건축 실루엣을 가리는 식생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아이디어는 Must Have 완성 후 확장으로 분리한다.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재정의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기획한 건물이 ‘건물이 주인공’이라는 의도와 맞는지 다시 확인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06640" y="59436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F6F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06640" y="594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1755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후기 고딕 예배당의 측랑 반복 구획 3칸으로 기획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기둥·첨두아치·벽·창·볼트·바닥 각 1종의 반복 모듈 구성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35808" y="3063240"/>
            <a:ext cx="192024" cy="0"/>
          </a:xfrm>
          <a:prstGeom prst="line">
            <a:avLst/>
          </a:prstGeom>
          <a:noFill/>
          <a:ln w="15875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46120" y="16002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74720" y="1755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5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발견한 문제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측랑은 신랑 아케이드·독립 기둥을 전제로 하는 구조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참조 이미지와 다른 건물이 되고 소규모 범위가 흐려짐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문서마다 범위(측랑 / 단일 본당)가 서로 달라짐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24728" y="3063240"/>
            <a:ext cx="192024" cy="0"/>
          </a:xfrm>
          <a:prstGeom prst="line">
            <a:avLst/>
          </a:prstGeom>
          <a:noFill/>
          <a:ln w="15875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35040" y="16002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24262A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63640" y="1755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· 계획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13–14세기 영국계 고딕 단일 본당 6 × 12m · 3 Bay로 확정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측랑·아케이드·독립 기둥·트랜셉트·앱스 제외 목록 명시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제작 문서를 같은 범위로 정리 (2026-09-28)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노션 제작 1 · 12-11 — 블록아웃 중 측랑·아케이드·독립 기둥이 생기면 최종 참조와 다른 건물이므로 즉시 수정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모듈 제작 비용 — AI 도입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무조건 쓰지 않고, 같은 조건으로 비교해 도움이 되는 구간만 판단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06640" y="59436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8A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0" y="594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1755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구조(벽·창·버트레스·볼트)를 전부 수작업하면 시간이 크게 듦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Tripo · Meshy · VARCO 3D에 같은 이미지 입력, 100점 기준 비교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랜싯 창벽 → 2차 버트레스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35808" y="3063240"/>
            <a:ext cx="192024" cy="0"/>
          </a:xfrm>
          <a:prstGeom prst="line">
            <a:avLst/>
          </a:prstGeom>
          <a:noFill/>
          <a:ln w="15875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46120" y="16002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74720" y="1755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5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발견한 문제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Tripo: 무료 플랜 내보내기 차단 → 와이어·UV 검증 불가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Meshy: 약 198만 Tri, 낮은 면 수 리메시는 몰딩 손상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VARCO: 측면·상단이 불규칙해 접합 모듈로 부적합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파손형을 따로 생성하면 크기·접합면이 달라질 위험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24728" y="3063240"/>
            <a:ext cx="192024" cy="0"/>
          </a:xfrm>
          <a:prstGeom prst="line">
            <a:avLst/>
          </a:prstGeom>
          <a:noFill/>
          <a:ln w="15875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35040" y="16002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24262A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63640" y="1755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· 계획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분리: Tripo 정상형 초안 · Meshy 하이폴·베이크 소스 · VARCO 풍화 참고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파손형은 확정된 정상형을 복제해 내부에만 파손 적용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규격·접합·토폴로지·UV는 제작자가 판단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Blender 기술 검사 후 최종 선정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노션 제작 2.1 — 점수와 순위는 화면 비교 기준 잠정값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3D 모델링 도구 비교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 이미지·같은 100점 기준으로 비교 — AI는 초안, 규격·토폴로지는 제작자가 판단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94360" y="1463040"/>
          <a:ext cx="39319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937760" y="137160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120640" y="1572768"/>
            <a:ext cx="182880" cy="182880"/>
          </a:xfrm>
          <a:prstGeom prst="ellipse">
            <a:avLst/>
          </a:prstGeom>
          <a:solidFill>
            <a:srgbClr val="2F6F7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4068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Tripo  </a:t>
            </a:r>
            <a:pPr indent="0" marL="0">
              <a:buNone/>
            </a:pPr>
            <a:r>
              <a:rPr lang="en-US" sz="11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잠정 1순위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18470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정상형 구조 모듈 초안 — 후면 접합면이 가장 평평, 43K Triangle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937760" y="2487168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20640" y="2688336"/>
            <a:ext cx="182880" cy="182880"/>
          </a:xfrm>
          <a:prstGeom prst="ellipse">
            <a:avLst/>
          </a:prstGeom>
          <a:solidFill>
            <a:srgbClr val="B89B6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40680" y="25968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Meshy  </a:t>
            </a:r>
            <a:pPr indent="0" marL="0">
              <a:buNone/>
            </a:pPr>
            <a:r>
              <a:rPr lang="en-US" sz="1100" b="1" dirty="0">
                <a:solidFill>
                  <a:srgbClr val="B89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29626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하이폴·베이크 소스 — 약 1분·20크레딧, 디테일 풍부(약 198만 Tri)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37760" y="3602736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120640" y="3803904"/>
            <a:ext cx="182880" cy="182880"/>
          </a:xfrm>
          <a:prstGeom prst="ellipse">
            <a:avLst/>
          </a:prstGeom>
          <a:solidFill>
            <a:srgbClr val="8C5A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40680" y="37124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VARCO 3D  </a:t>
            </a:r>
            <a:pPr indent="0" marL="0">
              <a:buNone/>
            </a:pPr>
            <a:r>
              <a:rPr lang="en-US" sz="1100" b="1" dirty="0">
                <a:solidFill>
                  <a:srgbClr val="8C5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3순위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40680" y="40782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풍화·파손 Variant 참고 — 불규칙한 석재 표현이 강함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709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비교 기준 잠정 결과 · Blender 기술 검사 후 최종 선정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배치 비용 — Bay 생성 시스템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모듈을 하나씩 옮기지 않고, Bay 조합표만 바꿔 예배당을 다시 조립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06640" y="59436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8A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0" y="594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완료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1755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Unity 건물 생성 시스템의 설계 원리를 Unreal Blueprint로 재설계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Construction Script로 벽·버트레스·볼트·지붕 반복 배치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35808" y="3063240"/>
            <a:ext cx="192024" cy="0"/>
          </a:xfrm>
          <a:prstGeom prst="line">
            <a:avLst/>
          </a:prstGeom>
          <a:noFill/>
          <a:ln w="15875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46120" y="16002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74720" y="1755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5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고려한 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Bay 안에서도 벽·버트레스·지붕의 파손 정도가 서로 다름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손상 상태 하나로 Bay 전체를 바꾸는 방식 대신 모듈별로 고르는 조합표로 설계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원본은 길이·Pivot·접합면이 제각각이라 공통 규격이 먼저 필요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24728" y="3063240"/>
            <a:ext cx="192024" cy="0"/>
          </a:xfrm>
          <a:prstGeom prst="line">
            <a:avLst/>
          </a:prstGeom>
          <a:noFill/>
          <a:ln w="15875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35040" y="16002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24262A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63640" y="1755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· 계획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F_ChapelBayConfig: Bay별로 벽·버트레스·볼트·지붕·낙석을 각각 선택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모듈을 400cm Bay · 공통 Pivot · 평평한 접합면으로 리터칭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Hero·소품은 자동 조립 후 직접 배치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노션 제작 2.2 · 제작 10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Bay 기반 모듈 생성 시스템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Bay 수와 Bay별 모듈 조합을 입력하면 규격 모듈로 예배당을 자동 조립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초기 메시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형태·석재 원본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38528" y="1828800"/>
            <a:ext cx="201168" cy="0"/>
          </a:xfrm>
          <a:prstGeom prst="line">
            <a:avLst/>
          </a:prstGeom>
          <a:noFill/>
          <a:ln w="15875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57984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57984" y="1463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Blender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57984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400cm 규격·Pivot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39312" y="1828800"/>
            <a:ext cx="201168" cy="0"/>
          </a:xfrm>
          <a:prstGeom prst="line">
            <a:avLst/>
          </a:prstGeom>
          <a:noFill/>
          <a:ln w="15875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58768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58768" y="1463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DA_Module Set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58768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라이브러리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0096" y="1828800"/>
            <a:ext cx="201168" cy="0"/>
          </a:xfrm>
          <a:prstGeom prst="line">
            <a:avLst/>
          </a:prstGeom>
          <a:noFill/>
          <a:ln w="15875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59552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559552" y="1463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F_BayConfig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59552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Bay별 조합표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1828800"/>
            <a:ext cx="201168" cy="0"/>
          </a:xfrm>
          <a:prstGeom prst="line">
            <a:avLst/>
          </a:prstGeom>
          <a:noFill/>
          <a:ln w="15875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60336" y="13716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4262A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260336" y="1463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BP_Generator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260336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Construction Script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920240"/>
                <a:gridCol w="1463040"/>
                <a:gridCol w="23774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벽체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버트레스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볼트·지붕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낙석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6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Bay 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창벽 붕괴형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붕괴형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열린 지붕·파손 볼트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Large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Bay 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9B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창벽 부분 파손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파손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파손 지붕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Small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Bay 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창벽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지붕·볼트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None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분리  </a:t>
            </a:r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모듈은 Blender에서 한 번 제작 · 조합은 Bay 조합표 · 배치는 Blueprint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2026_MBC\UE5_GothicChapel\SourceAssets\Blockout\Blockout_Interi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303520" y="411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블록아웃 완료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30352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GothicChapel_Main · 2026-09-28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30352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30352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액터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메시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단색 재질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경로 통과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6576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서쪽 진입 시 제단·Hero 창 중심축 정렬 확인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3경로·내부 3경로 캡슐 충돌 검사 통과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일: 3인칭 PIE 이동 테스트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블록아웃 검수에서 발견한 문제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789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에디터 바운드와 충돌 쿼리로 확인하고, 설계 문서의 공백은 제안값으로 명시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06640" y="59436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F6F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06640" y="594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3291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발견한 문제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5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6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7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박공벽·일부 소품 방향 오류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회전축 설정 오류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액터 바운드로 방향·치수를 확인하고 수정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OBJ 임포트 스무딩·탄젠트 경고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블록아웃 메시의 법선 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법선·탄젠트 재계산, MikkTSpace 해제 (최종 UV는 별도 제작)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지붕 경사면 3.8m 자료값 불일치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폭 6m · 마루/처마 높이차 3m와 동시에 성립 불가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폭·높이를 우선, 반폭 375 · 상승 300cm 임시 매스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노션에 없는 수치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창대 높이·제단 깊이·소품 위치 미정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2A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블록아웃 제안값 적용(측창 창대 160 · 동쪽 220), README에 표기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C08A3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검증  </a:t>
            </a:r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캡슐 충돌 검사(입구 3 · 내부 3경로)는 통과했지만 에디터 쿼리일 뿐 — 3인칭 PIE 플레이 테스트로 확인 예정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아트 디렉션 &amp; PBR 기준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시간감과 파손 원칙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석회암 벽·랜싯 창·리브 볼트·트러스·슬레이트 지붕이 주된 읽힘을 만든다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파손은 랜덤 장식이 아니라 구조가 실제로 무너진 결과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젖은 석재·누수·이끼·먼지·마모를 재질 레이어로 사용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소품은 건축·제단 실루엣보다 앞서지 않게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8348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PBR·텍스처 기준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82880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Color에 조명·그림자를 그리지 않는다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석회암 Metalness = 0, 젖은 면은 Roughness로 구분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Color · Normal · ORM 출력 규칙 통일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모듈은 공통 Texel Density, Hero만 고유 해상도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Tiling · Trim · Unique Texture 역할 분리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Asset &amp; 소품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소품은 채우기가 아니라 ‘무엇이 무너졌고 얼마나 오래 방치되었는가’를 보여주는 묶음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ASSET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2426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동쪽 제단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75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서쪽 진입 시 읽히는 계단형 정면 실루엣. 상판 305cm → 중앙 본체 → 필라스터 → 아치 리세스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679192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2426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770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3연 트레이서리 창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제단의 중심축 · 배경 광원 · 색 포인트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666744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2426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7581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서쪽 출입구·종탑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050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4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화면에서 폐허 사건과 진입 방향 제시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PROPS 배치 규칙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3931920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983480" y="1874520"/>
            <a:ext cx="3520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통로 중앙은 비우고 측벽·제단 단 주변에 배치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소품은 보존된 중앙~동쪽 Bay에 배치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벤치는 방향·간격·파손을 달리해 반복감 제거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촛대·천은 낮게, 시선을 제단 쪽으로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예배당 → 붕괴 → 방치로 읽히게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로드맵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 고정 → 플레이 검증 → 에셋 → 조립 → 증명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536192" cy="896112"/>
          </a:xfrm>
          <a:prstGeom prst="roundRect">
            <a:avLst>
              <a:gd name="adj" fmla="val 7143"/>
            </a:avLst>
          </a:prstGeom>
          <a:solidFill>
            <a:srgbClr val="2F6F73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435608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435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3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64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콘셉트·범위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121408" y="1325880"/>
            <a:ext cx="1536192" cy="896112"/>
          </a:xfrm>
          <a:prstGeom prst="roundRect">
            <a:avLst>
              <a:gd name="adj" fmla="val 7143"/>
            </a:avLst>
          </a:prstGeom>
          <a:solidFill>
            <a:srgbClr val="2F6F73"/>
          </a:solidFill>
          <a:ln/>
        </p:spPr>
      </p:sp>
      <p:sp>
        <p:nvSpPr>
          <p:cNvPr id="10" name="Shape 8"/>
          <p:cNvSpPr/>
          <p:nvPr/>
        </p:nvSpPr>
        <p:spPr>
          <a:xfrm>
            <a:off x="2231136" y="1435608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31136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78608" y="1435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3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231136" y="1764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규격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85616" y="1325880"/>
            <a:ext cx="153619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C08A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95344" y="1435608"/>
            <a:ext cx="274320" cy="27432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95344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242816" y="1435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895344" y="1764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블록아웃·동선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49824" y="1325880"/>
            <a:ext cx="1536192" cy="896112"/>
          </a:xfrm>
          <a:prstGeom prst="roundRect">
            <a:avLst>
              <a:gd name="adj" fmla="val 7143"/>
            </a:avLst>
          </a:prstGeom>
          <a:solidFill>
            <a:srgbClr val="E4DED4"/>
          </a:solidFill>
          <a:ln/>
        </p:spPr>
      </p:sp>
      <p:sp>
        <p:nvSpPr>
          <p:cNvPr id="20" name="Shape 18"/>
          <p:cNvSpPr/>
          <p:nvPr/>
        </p:nvSpPr>
        <p:spPr>
          <a:xfrm>
            <a:off x="5559552" y="1435608"/>
            <a:ext cx="274320" cy="274320"/>
          </a:xfrm>
          <a:prstGeom prst="ellipse">
            <a:avLst/>
          </a:prstGeom>
          <a:solidFill>
            <a:srgbClr val="BDB6A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59552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907024" y="1435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559552" y="1764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Bay 프로토타입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14032" y="1325880"/>
            <a:ext cx="1536192" cy="896112"/>
          </a:xfrm>
          <a:prstGeom prst="roundRect">
            <a:avLst>
              <a:gd name="adj" fmla="val 7143"/>
            </a:avLst>
          </a:prstGeom>
          <a:solidFill>
            <a:srgbClr val="E4DED4"/>
          </a:solidFill>
          <a:ln/>
        </p:spPr>
      </p:sp>
      <p:sp>
        <p:nvSpPr>
          <p:cNvPr id="25" name="Shape 23"/>
          <p:cNvSpPr/>
          <p:nvPr/>
        </p:nvSpPr>
        <p:spPr>
          <a:xfrm>
            <a:off x="7223760" y="1435608"/>
            <a:ext cx="274320" cy="274320"/>
          </a:xfrm>
          <a:prstGeom prst="ellipse">
            <a:avLst/>
          </a:prstGeom>
          <a:solidFill>
            <a:srgbClr val="BDB6A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223760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571232" y="1435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2.2·10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17647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Bay 생성기 v0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2350008"/>
            <a:ext cx="153619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C08A3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2459736"/>
            <a:ext cx="274320" cy="27432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2459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24597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2.1·5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2788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AI→기본 모듈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121408" y="2350008"/>
            <a:ext cx="1536192" cy="896112"/>
          </a:xfrm>
          <a:prstGeom prst="roundRect">
            <a:avLst>
              <a:gd name="adj" fmla="val 7143"/>
            </a:avLst>
          </a:prstGeom>
          <a:solidFill>
            <a:srgbClr val="E4DED4"/>
          </a:solidFill>
          <a:ln/>
        </p:spPr>
      </p:sp>
      <p:sp>
        <p:nvSpPr>
          <p:cNvPr id="35" name="Shape 33"/>
          <p:cNvSpPr/>
          <p:nvPr/>
        </p:nvSpPr>
        <p:spPr>
          <a:xfrm>
            <a:off x="2231136" y="2459736"/>
            <a:ext cx="274320" cy="274320"/>
          </a:xfrm>
          <a:prstGeom prst="ellipse">
            <a:avLst/>
          </a:prstGeom>
          <a:solidFill>
            <a:srgbClr val="BDB6A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231136" y="2459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2578608" y="24597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5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2231136" y="2788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파손 Variation·잔해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785616" y="2350008"/>
            <a:ext cx="153619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C08A3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95344" y="2459736"/>
            <a:ext cx="274320" cy="27432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895344" y="2459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242816" y="24597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6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3895344" y="2788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에셋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49824" y="2350008"/>
            <a:ext cx="1536192" cy="896112"/>
          </a:xfrm>
          <a:prstGeom prst="roundRect">
            <a:avLst>
              <a:gd name="adj" fmla="val 7143"/>
            </a:avLst>
          </a:prstGeom>
          <a:solidFill>
            <a:srgbClr val="E4DED4"/>
          </a:solidFill>
          <a:ln/>
        </p:spPr>
      </p:sp>
      <p:sp>
        <p:nvSpPr>
          <p:cNvPr id="45" name="Shape 43"/>
          <p:cNvSpPr/>
          <p:nvPr/>
        </p:nvSpPr>
        <p:spPr>
          <a:xfrm>
            <a:off x="5559552" y="2459736"/>
            <a:ext cx="274320" cy="274320"/>
          </a:xfrm>
          <a:prstGeom prst="ellipse">
            <a:avLst/>
          </a:prstGeom>
          <a:solidFill>
            <a:srgbClr val="BDB6A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559552" y="2459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907024" y="24597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7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5559552" y="2788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PBR 기준 확정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114032" y="2350008"/>
            <a:ext cx="1536192" cy="896112"/>
          </a:xfrm>
          <a:prstGeom prst="roundRect">
            <a:avLst>
              <a:gd name="adj" fmla="val 7143"/>
            </a:avLst>
          </a:prstGeom>
          <a:solidFill>
            <a:srgbClr val="E4DED4"/>
          </a:solidFill>
          <a:ln/>
        </p:spPr>
      </p:sp>
      <p:sp>
        <p:nvSpPr>
          <p:cNvPr id="50" name="Shape 48"/>
          <p:cNvSpPr/>
          <p:nvPr/>
        </p:nvSpPr>
        <p:spPr>
          <a:xfrm>
            <a:off x="7223760" y="2459736"/>
            <a:ext cx="274320" cy="274320"/>
          </a:xfrm>
          <a:prstGeom prst="ellipse">
            <a:avLst/>
          </a:prstGeom>
          <a:solidFill>
            <a:srgbClr val="BDB6A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223760" y="2459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571232" y="24597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8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7223760" y="2788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텍스처 본 제작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57200" y="3374136"/>
            <a:ext cx="1536192" cy="896112"/>
          </a:xfrm>
          <a:prstGeom prst="roundRect">
            <a:avLst>
              <a:gd name="adj" fmla="val 7143"/>
            </a:avLst>
          </a:prstGeom>
          <a:solidFill>
            <a:srgbClr val="E4DED4"/>
          </a:solidFill>
          <a:ln/>
        </p:spPr>
      </p:sp>
      <p:sp>
        <p:nvSpPr>
          <p:cNvPr id="55" name="Shape 53"/>
          <p:cNvSpPr/>
          <p:nvPr/>
        </p:nvSpPr>
        <p:spPr>
          <a:xfrm>
            <a:off x="566928" y="3483864"/>
            <a:ext cx="274320" cy="274320"/>
          </a:xfrm>
          <a:prstGeom prst="ellipse">
            <a:avLst/>
          </a:prstGeom>
          <a:solidFill>
            <a:srgbClr val="BDB6A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66928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914400" y="3483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9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566928" y="38130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머티리얼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2121408" y="3374136"/>
            <a:ext cx="1536192" cy="896112"/>
          </a:xfrm>
          <a:prstGeom prst="roundRect">
            <a:avLst>
              <a:gd name="adj" fmla="val 7143"/>
            </a:avLst>
          </a:prstGeom>
          <a:solidFill>
            <a:srgbClr val="E4DED4"/>
          </a:solidFill>
          <a:ln/>
        </p:spPr>
      </p:sp>
      <p:sp>
        <p:nvSpPr>
          <p:cNvPr id="60" name="Shape 58"/>
          <p:cNvSpPr/>
          <p:nvPr/>
        </p:nvSpPr>
        <p:spPr>
          <a:xfrm>
            <a:off x="2231136" y="3483864"/>
            <a:ext cx="274320" cy="274320"/>
          </a:xfrm>
          <a:prstGeom prst="ellipse">
            <a:avLst/>
          </a:prstGeom>
          <a:solidFill>
            <a:srgbClr val="BDB6AA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2231136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2578608" y="3483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10·11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2231136" y="38130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조립·세트 드레싱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3785616" y="3374136"/>
            <a:ext cx="1536192" cy="896112"/>
          </a:xfrm>
          <a:prstGeom prst="roundRect">
            <a:avLst>
              <a:gd name="adj" fmla="val 7143"/>
            </a:avLst>
          </a:prstGeom>
          <a:solidFill>
            <a:srgbClr val="E4DED4"/>
          </a:solidFill>
          <a:ln/>
        </p:spPr>
      </p:sp>
      <p:sp>
        <p:nvSpPr>
          <p:cNvPr id="65" name="Shape 63"/>
          <p:cNvSpPr/>
          <p:nvPr/>
        </p:nvSpPr>
        <p:spPr>
          <a:xfrm>
            <a:off x="3895344" y="3483864"/>
            <a:ext cx="274320" cy="274320"/>
          </a:xfrm>
          <a:prstGeom prst="ellipse">
            <a:avLst/>
          </a:prstGeom>
          <a:solidFill>
            <a:srgbClr val="BDB6AA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3895344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4242816" y="3483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12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3895344" y="38130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라이팅·VFX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5449824" y="3374136"/>
            <a:ext cx="1536192" cy="896112"/>
          </a:xfrm>
          <a:prstGeom prst="roundRect">
            <a:avLst>
              <a:gd name="adj" fmla="val 7143"/>
            </a:avLst>
          </a:prstGeom>
          <a:solidFill>
            <a:srgbClr val="E4DED4"/>
          </a:solidFill>
          <a:ln/>
        </p:spPr>
      </p:sp>
      <p:sp>
        <p:nvSpPr>
          <p:cNvPr id="70" name="Shape 68"/>
          <p:cNvSpPr/>
          <p:nvPr/>
        </p:nvSpPr>
        <p:spPr>
          <a:xfrm>
            <a:off x="5559552" y="3483864"/>
            <a:ext cx="274320" cy="274320"/>
          </a:xfrm>
          <a:prstGeom prst="ellipse">
            <a:avLst/>
          </a:prstGeom>
          <a:solidFill>
            <a:srgbClr val="BDB6AA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555955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5907024" y="3483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13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5559552" y="38130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7114032" y="3374136"/>
            <a:ext cx="1536192" cy="896112"/>
          </a:xfrm>
          <a:prstGeom prst="roundRect">
            <a:avLst>
              <a:gd name="adj" fmla="val 7143"/>
            </a:avLst>
          </a:prstGeom>
          <a:solidFill>
            <a:srgbClr val="E4DED4"/>
          </a:solidFill>
          <a:ln/>
        </p:spPr>
      </p:sp>
      <p:sp>
        <p:nvSpPr>
          <p:cNvPr id="75" name="Shape 73"/>
          <p:cNvSpPr/>
          <p:nvPr/>
        </p:nvSpPr>
        <p:spPr>
          <a:xfrm>
            <a:off x="7223760" y="3483864"/>
            <a:ext cx="274320" cy="274320"/>
          </a:xfrm>
          <a:prstGeom prst="ellipse">
            <a:avLst/>
          </a:prstGeom>
          <a:solidFill>
            <a:srgbClr val="BDB6AA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7223760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7571232" y="3483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14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7223760" y="38130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457200" y="4544568"/>
            <a:ext cx="256032" cy="182880"/>
          </a:xfrm>
          <a:prstGeom prst="roundRect">
            <a:avLst>
              <a:gd name="adj" fmla="val 20000"/>
            </a:avLst>
          </a:prstGeom>
          <a:solidFill>
            <a:srgbClr val="2F6F73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786384" y="45171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645920" y="4544568"/>
            <a:ext cx="256032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08A3E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975104" y="45171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2834640" y="4544568"/>
            <a:ext cx="256032" cy="182880"/>
          </a:xfrm>
          <a:prstGeom prst="roundRect">
            <a:avLst>
              <a:gd name="adj" fmla="val 20000"/>
            </a:avLst>
          </a:prstGeom>
          <a:solidFill>
            <a:srgbClr val="E4DED4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3163824" y="45171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순서를 이렇게 정한 이유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단계가 흔들리면 뒤 단계를 전부 다시 해야 한다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292608" cy="292608"/>
          </a:xfrm>
          <a:prstGeom prst="ellipse">
            <a:avLst/>
          </a:prstGeom>
          <a:solidFill>
            <a:srgbClr val="2F6F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618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생성기를 앞당긴다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756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규격만 있으면 프록시로 만들 수 있다. 먼저 만들면 모듈을 교체할 때마다 3 Bay 전체를 바로 확인한다.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645920"/>
            <a:ext cx="292608" cy="292608"/>
          </a:xfrm>
          <a:prstGeom prst="ellipse">
            <a:avLst/>
          </a:prstGeom>
          <a:solidFill>
            <a:srgbClr val="2F6F7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618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파손형은 정상형 확정 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0756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정상형을 복제해 파손을 적용해야 규격·Pivot·접합면이 같은 교체용 Variant가 된다.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246120"/>
            <a:ext cx="292608" cy="292608"/>
          </a:xfrm>
          <a:prstGeom prst="ellipse">
            <a:avLst/>
          </a:prstGeom>
          <a:solidFill>
            <a:srgbClr val="2F6F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218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PBR 기준을 먼저 승인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675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Tiling·Trim 초안으로 색상·Roughness·Normal 기준을 잡은 뒤 본 제작에 들어간다.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246120"/>
            <a:ext cx="292608" cy="292608"/>
          </a:xfrm>
          <a:prstGeom prst="ellipse">
            <a:avLst/>
          </a:prstGeom>
          <a:solidFill>
            <a:srgbClr val="2F6F7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218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캡처는 매 단계마다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675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라이팅은 블록아웃부터 가볍게 확인하고, 단계별 캡처가 그대로 Breakdown 자료가 된다.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4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결과물 &amp; 다음 단계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4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이미지·영상·제작 과정이 한 포트폴리오 페이지에서 이어지도록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2834640"/>
          </a:xfrm>
          <a:prstGeom prst="roundRect">
            <a:avLst>
              <a:gd name="adj" fmla="val 2581"/>
            </a:avLst>
          </a:prstGeom>
          <a:solidFill>
            <a:srgbClr val="3336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결과물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이미지 3–5장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Bay 생성 시스템 작동 영상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모듈 · Hero High/Low/Bake Breakdown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Tiling·Trim·Master Material · Vertex Blend·Decal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전후 비교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2148840"/>
            <a:ext cx="365760" cy="36576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6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20574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블록아웃 레벨 3인칭 PIE 이동 테스트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971800"/>
            <a:ext cx="365760" cy="36576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6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880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Bay 프로토타입 + Bay 생성기 v0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3794760"/>
            <a:ext cx="365760" cy="365760"/>
          </a:xfrm>
          <a:prstGeom prst="ellipse">
            <a:avLst/>
          </a:prstGeom>
          <a:solidFill>
            <a:srgbClr val="C08A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6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37033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 Blender 기술 검사 → 최종 선정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UE5 Ruined Gothic Chapel — 프로젝트 개요</dc:title>
  <dc:subject>PptxGenJS Presentation</dc:subject>
  <dc:creator>Jiwon Lee</dc:creator>
  <cp:lastModifiedBy>Jiwon Lee</cp:lastModifiedBy>
  <cp:revision>1</cp:revision>
  <dcterms:created xsi:type="dcterms:W3CDTF">2026-09-28T14:31:16Z</dcterms:created>
  <dcterms:modified xsi:type="dcterms:W3CDTF">2026-09-28T14:31:16Z</dcterms:modified>
</cp:coreProperties>
</file>